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3cd45fa2d0415a" /><Relationship Type="http://schemas.openxmlformats.org/officeDocument/2006/relationships/extended-properties" Target="/docProps/app.xml" Id="R04739ef490354e09" /><Relationship Type="http://schemas.openxmlformats.org/officeDocument/2006/relationships/officeDocument" Target="/ppt/presentation.xml" Id="R0e5ed43e417e41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c6c4883a3344afa"/>
  </p:sldMasterIdLst>
  <p:notesMasterIdLst>
    <p:notesMasterId xmlns:r="http://schemas.openxmlformats.org/officeDocument/2006/relationships" r:id="R87dd58d2c0594021"/>
  </p:notesMasterIdLst>
  <p:sldIdLst>
    <p:sldId xmlns:r="http://schemas.openxmlformats.org/officeDocument/2006/relationships" id="256" r:id="R675e13ad851244eb"/>
    <p:sldId xmlns:r="http://schemas.openxmlformats.org/officeDocument/2006/relationships" id="257" r:id="R028f65984d0f4ee1"/>
    <p:sldId xmlns:r="http://schemas.openxmlformats.org/officeDocument/2006/relationships" id="258" r:id="R910a4ca8820942b9"/>
    <p:sldId xmlns:r="http://schemas.openxmlformats.org/officeDocument/2006/relationships" id="259" r:id="R7e8b95d4517c4acd"/>
    <p:sldId xmlns:r="http://schemas.openxmlformats.org/officeDocument/2006/relationships" id="260" r:id="R2b44dd1819d740e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1538336cf34e5d" /><Relationship Type="http://schemas.openxmlformats.org/officeDocument/2006/relationships/slideMaster" Target="/ppt/slideMasters/slideMaster1.xml" Id="Rac6c4883a3344afa" /><Relationship Type="http://schemas.openxmlformats.org/officeDocument/2006/relationships/notesMaster" Target="/ppt/notesMasters/notesMaster1.xml" Id="R87dd58d2c0594021" /><Relationship Type="http://schemas.openxmlformats.org/officeDocument/2006/relationships/presProps" Target="/ppt/presProps.xml" Id="Rf17ba2350e574781" /><Relationship Type="http://schemas.openxmlformats.org/officeDocument/2006/relationships/tableStyles" Target="/ppt/tableStyles.xml" Id="Rae401d2be315465b" /><Relationship Type="http://schemas.openxmlformats.org/officeDocument/2006/relationships/slide" Target="/ppt/slides/slide1.xml" Id="R675e13ad851244eb" /><Relationship Type="http://schemas.openxmlformats.org/officeDocument/2006/relationships/slide" Target="/ppt/slides/slide2.xml" Id="R028f65984d0f4ee1" /><Relationship Type="http://schemas.openxmlformats.org/officeDocument/2006/relationships/slide" Target="/ppt/slides/slide3.xml" Id="R910a4ca8820942b9" /><Relationship Type="http://schemas.openxmlformats.org/officeDocument/2006/relationships/slide" Target="/ppt/slides/slide4.xml" Id="R7e8b95d4517c4acd" /><Relationship Type="http://schemas.openxmlformats.org/officeDocument/2006/relationships/slide" Target="/ppt/slides/slide5.xml" Id="R2b44dd1819d740e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939373571ab47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647dd1f7814042" /><Relationship Type="http://schemas.openxmlformats.org/officeDocument/2006/relationships/notesMaster" Target="/ppt/notesMasters/notesMaster1.xml" Id="R7bbae995834e45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5fe9522d0c24e38" /><Relationship Type="http://schemas.openxmlformats.org/officeDocument/2006/relationships/notesMaster" Target="/ppt/notesMasters/notesMaster1.xml" Id="Ra2845b74828e44d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75196207e5455c" /><Relationship Type="http://schemas.openxmlformats.org/officeDocument/2006/relationships/notesMaster" Target="/ppt/notesMasters/notesMaster1.xml" Id="R98176894510f40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aa069d0838498f" /><Relationship Type="http://schemas.openxmlformats.org/officeDocument/2006/relationships/notesMaster" Target="/ppt/notesMasters/notesMaster1.xml" Id="R63902a1af8a44d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2b7774729804993" /><Relationship Type="http://schemas.openxmlformats.org/officeDocument/2006/relationships/notesMaster" Target="/ppt/notesMasters/notesMaster1.xml" Id="R5cc5c8776fa245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Bookly project repository and SE Take-Home requirements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 reflects the implemented Bookly web application, including the full agent page and the separate landing widget.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Architecture is derived from server.mjs: classify, session memory, tool calls, deterministic reply, optional OpenAI Responses API, and Supabase persistence.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Trade-offs are based on the final implementation and the assignment prompt, which asks the candidate to defend architecture and decisions.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Production gaps are explicitly documented in README.md and are intentionally outside the take-home prototype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c2f565e5fe41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8bf0bacc964546" /><Relationship Type="http://schemas.openxmlformats.org/officeDocument/2006/relationships/slideLayout" Target="/ppt/slideLayouts/slideLayout1.xml" Id="R66850b5104294d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850b5104294d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4488118981414c" /><Relationship Type="http://schemas.openxmlformats.org/officeDocument/2006/relationships/notesSlide" Target="/ppt/notesSlides/notesSlide1.xml" Id="R9e3a2f076ec346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83e67c6cf3402a" /><Relationship Type="http://schemas.openxmlformats.org/officeDocument/2006/relationships/notesSlide" Target="/ppt/notesSlides/notesSlide2.xml" Id="R0af43642bff2425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d320209f514977" /><Relationship Type="http://schemas.openxmlformats.org/officeDocument/2006/relationships/notesSlide" Target="/ppt/notesSlides/notesSlide3.xml" Id="R07fe3e5981124c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36e78c033e4599" /><Relationship Type="http://schemas.openxmlformats.org/officeDocument/2006/relationships/notesSlide" Target="/ppt/notesSlides/notesSlide4.xml" Id="R2a4ed2aff79b48c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495de45352432d" /><Relationship Type="http://schemas.openxmlformats.org/officeDocument/2006/relationships/notesSlide" Target="/ppt/notesSlides/notesSlide5.xml" Id="Ra0d82002f297404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788015-7317-4215-9CD9-9B74A38D2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B4E4B1-AAA1-4350-91E7-352A0127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45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F93B0-6127-41FF-8AA5-F0C493333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95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SOLUTIONS ENGINEERING TAKE-HOME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B4C969-8DE6-4E89-9506-9132523E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8250"/>
            <a:ext cx="7048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46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Bookly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B39D9-991D-4D92-AFA0-4A20D67E5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704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0" i="1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0" i="1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Support 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52E9AD-3C0B-432C-8075-73470E44F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571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A grounded, multilingual customer-support agent for an online bookstore.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22BF7F-8F12-4807-B170-48AAFA6A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028700"/>
            <a:ext cx="3143250" cy="40957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245C4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C2983D-4AB9-47C6-804D-2333D94BB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2381250" cy="304800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7F8F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F6B98B-0F14-44E3-8335-66614D476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381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6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6B8710-015C-4F32-A67A-D76AC629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480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BOOKLY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EB798-88DE-4C70-87AF-5B28FE35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05200"/>
            <a:ext cx="22288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Ask what is missing.</a:t>
            </a:r>
          </a:p>
          <a:p xmlns:a="http://schemas.openxmlformats.org/drawingml/2006/main">
            <a:pPr algn="ctr">
              <a:defRPr sz="1200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Check the source of truth.</a:t>
            </a:r>
          </a:p>
          <a:p xmlns:a="http://schemas.openxmlformats.org/drawingml/2006/main">
            <a:pPr algn="ctr">
              <a:defRPr sz="1200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Explain the next step.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3F2404-3E3A-4220-A0BD-31638B16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Prototype complete  ·  web demo  ·  Supabase  ·  OpenAI Responses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64C14-0862-4013-9966-8A24661D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BOOKLY  /  DECAGON SE TAKE-HOME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E44250-851D-4185-94E6-5C774E22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608845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A42BA37-BE81-45E5-8CB3-4BBA9C015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Thesis and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AEE412-4957-4B24-AB57-2B8E83B6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Bookly reduces ambiguity before it takes action.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9BC222-E340-4D43-BA5B-A77736A0B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495300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245C4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5D254-6F15-4A5A-BB2E-D28A440A1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THE THESIS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B6E328-1121-46A7-9DB5-1C5EBC116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 good CX agent turns a vague request into a verified resolution.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6D04D-01F4-4F01-8BEE-21A072C8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76625"/>
            <a:ext cx="4000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DCEB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DCEBE0"/>
                </a:solidFill>
                <a:latin typeface="Helvetica Neue"/>
                <a:ea typeface="Helvetica Neue"/>
                <a:cs typeface="Helvetica Neue"/>
              </a:rPr>
              <a:t>Ask for what is missing, query the source of truth, and explain the next action.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433C46-57B3-48A1-9469-D3B522EF8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WHAT THE PROTOTYPE HANDLES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EABE8-D0EF-4027-8D12-673C3557A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4762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8E2D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6FD728-6DD1-419E-AB45-950217B08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8122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Orders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F32C35-947A-4AA1-ABFD-4F68B026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18122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Status, tracking and ETA with order-number clarification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17EF8D-5ED6-460B-A9C8-C2CE431C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4762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8E2D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DA4A99-2060-4E8F-A370-AD455416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Returns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5AC4F-D2BC-4E65-B654-BE6F2D64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9560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Eligibility, reason collection and return-case creation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949C5C-62FB-4326-92FA-CAFD8004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24250"/>
            <a:ext cx="4762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8E2D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03E3B2-A239-4723-B3DF-8952FB918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09975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Books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D18595-993D-43DA-B789-B96B9BB1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609975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Catalog search, categories, promotions and purchase handoff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4415FF-2368-4E03-952F-D687A2B82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38625"/>
            <a:ext cx="4762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7F8F5"/>
          </a:solidFill>
          <a:ln xmlns:a="http://schemas.openxmlformats.org/drawingml/2006/main" w="9525">
            <a:solidFill>
              <a:srgbClr val="D8E2DB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26E77-AD0D-4A6B-93A8-DBEEA6D7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Languages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AFDB01-3399-47FF-8A06-557D8275A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324350"/>
            <a:ext cx="304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Spanish, Portuguese and English with explicit switching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AFDDD7-F8A0-4977-A32D-CD43CF24B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BOOKLY  /  DECAGON SE TAKE-HOME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1DB509-13D8-4C00-9B13-D0399FD8E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801854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824335B-26E9-43DA-81C3-87C7A9FF6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Agent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152276-4E1C-4CEF-928A-3ADADCCA8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A small explicit loop keeps decisions visible and testable.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E5041D-45D1-423A-AC36-46F4D089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85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B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070C8A-5EDD-4E8A-9023-4E995839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6B9D02-F723-40BE-B7A2-0A839339F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051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Customer message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A864DA-1A43-4322-865B-2C995357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Text input</a:t>
            </a:r>
          </a:p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from web chat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45AC1F-2172-42C1-9707-9EBB6054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480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4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EA35C-635C-439B-B686-3D319614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00350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AB0CD5-7FF9-4EEB-A734-1CA9C3CF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381250"/>
            <a:ext cx="1885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3B18F-102F-4513-A13F-496BE586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57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1989B7-5167-48E6-8B94-E6193911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051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Orchestrator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39CA4-67D0-4D93-828A-94C9E61A5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333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Intent + session</a:t>
            </a:r>
          </a:p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state + language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924AC7-FC37-4DB5-B7C0-0D32C565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480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4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66C111-D796-4A47-B380-2E7102B4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800350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E13AF0-0D27-4AF5-B73C-90C8CD38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381250"/>
            <a:ext cx="1885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245C45"/>
          </a:solidFill>
          <a:ln xmlns:a="http://schemas.openxmlformats.org/drawingml/2006/main" w="9525">
            <a:solidFill>
              <a:srgbClr val="D8E2D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008899-DC2A-4315-9FD1-CF8C1C0C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7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9B45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E9B452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2E5A64-1ABC-41A7-A898-438D02B5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9051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Tools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9B983F-4B44-4A51-8C1F-23B73D8E7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33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DCEB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DCEBE0"/>
                </a:solidFill>
                <a:latin typeface="Helvetica Neue"/>
                <a:ea typeface="Helvetica Neue"/>
                <a:cs typeface="Helvetica Neue"/>
              </a:rPr>
              <a:t>Supabase books</a:t>
            </a:r>
          </a:p>
          <a:p xmlns:a="http://schemas.openxmlformats.org/drawingml/2006/main">
            <a:pPr algn="l">
              <a:defRPr sz="975" b="0" i="0">
                <a:solidFill>
                  <a:srgbClr val="DCEBE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DCEBE0"/>
                </a:solidFill>
                <a:latin typeface="Helvetica Neue"/>
                <a:ea typeface="Helvetica Neue"/>
                <a:cs typeface="Helvetica Neue"/>
              </a:rPr>
              <a:t>orders and returns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72B433-4929-41E6-9AAD-94E59E0B3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480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4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20B0B0-0074-4AAD-BC2C-539A7D03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00350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9E26CA-5033-4831-A48D-996FDE30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381250"/>
            <a:ext cx="1885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9F9CD82-AEDB-47B6-908B-47CDC7893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57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630842-6D24-4938-97C7-98D2D7C2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051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Grounded reply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907527-F45A-4011-8C52-D19A165DC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33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LLM wording</a:t>
            </a:r>
          </a:p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with guardrails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F4D003-F021-4F58-98E8-F23F3E07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048000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C4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18A94B-4D7C-4A2A-8709-FB7E2CD6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00350"/>
            <a:ext cx="342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0C5EFE-0D59-41C9-89DA-4EC438EBB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81250"/>
            <a:ext cx="18859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2D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448B020-831A-40C6-8F77-F3DAC844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5717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B6B970-90AE-4FBF-9999-A68CCC83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9051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Trace + history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C54AFB-23D7-48AC-A007-8D86BEAE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33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Decision trace</a:t>
            </a:r>
          </a:p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and conversation log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B877E9-36D9-4968-8F72-C05B5DD2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GUARDRAIL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6AA0DB3-0A01-4128-AD81-C7E9B6C9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05375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Business logic remains the source of truth. The LLM drafts the final wording only from verified context.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9332BE-BA23-4386-8F9F-EEC64B8BB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F0E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DFF731-E9FA-4677-A550-AD854C30A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No invented order facts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6C6FBE-1064-49A9-9D6B-B87322215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2450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F0E6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A198C4-C389-47C5-9739-C7F6AF2D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52450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Clarify before acting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EDDAB6F-013D-478B-9F4A-28EAB79D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24500"/>
            <a:ext cx="1381125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F0E6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5C6AD5-68AD-4CC1-9F9A-B935EFD9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524500"/>
            <a:ext cx="1381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Persist each turn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78CCEF-CB66-4C0C-BDC9-00E7A9E4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BOOKLY  /  DECAGON SE TAKE-HOME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B602FC7-FAD3-4518-942E-71B76726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188066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D4D93A-4AE2-44D3-BF55-C8E2D51E8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Key technical decisions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E1318-9483-456E-8937-82D9A7681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The prototype favors trust, inspectability and a clear demo path.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9BEA46-7854-44C2-9491-13C9F96D0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CCFEF-9785-4917-AE45-BEE62198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6668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Tool-grounded facts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94FBD-DD6A-49DB-820A-0951F99C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66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Order and catalog facts come from bounded tools.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DE172-F005-49E5-9EED-E0D18F60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Trade-off: less free-form exploration.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2C5A4-AF97-4A06-9967-C896D2C1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6668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Worth it: the agent cannot invent a status, price or return result.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BB5E87-BC8C-49DE-9164-98493C54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050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1D5264-56D8-4DC9-91F6-FEFEF4340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4AA427-1AB3-4B88-86AF-3EEFFBC8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955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Explicit orchestration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0B9E75-4720-4544-8848-FC992598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955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Intent, memory and awaiting state stay visible in code.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70DDD-959C-4C6A-B4BE-120B168F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955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Trade-off: more routing logic to maintain.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7026E8-BE7D-40AB-BB52-D96218EC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955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Worth it: multi-turn behavior is easy to debug and test.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84F599-349D-4ADE-AF70-9A826DDD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337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B695B6-E84F-4F3B-835C-193F7E21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385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FFA2E2-1765-42C0-ACAA-904C10478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242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Optional LLM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B50DC-D494-40AD-ACA8-263E93E9A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7242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OpenAI rewrites verified context in the active language.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4D458F1-960F-4A1F-A359-864C05EB8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242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Trade-off: external latency and model cost.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6FD30F-04A0-4973-9148-F0D9D10C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242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Worth it: natural responses without delegating business rules.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633410-CAD9-4BD4-9CD6-8B6E2B9BF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62475"/>
            <a:ext cx="1047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2D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603354-ABE9-4599-8C10-1F1D7B7C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30A95B-5FFB-4895-83FE-A06CF861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52975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Language as session state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816FBD-35AC-41D0-915D-B8F12A6A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7529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UI and bot follow Spanish, Portuguese or English.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D8B21A-26F4-4621-86AB-7685E741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529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Trade-off: more copy and test coverage.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34A2D0B-A071-4F92-B8D0-D4538DC6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5297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Worth it: the experience stays coherent after a language switch.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B1A910-B882-4473-8BCE-72E6E941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BOOKLY  /  DECAGON SE TAKE-HOME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AAA325-4CDF-4E3A-AB7C-492D7FC1C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4770427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163451-670D-4CBC-BB34-C5EF327A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Demo and production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458501-1CE6-44B6-AD34-C9988D4D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The submission is complete for the take-home prototype; production work is clear.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CBA6DA-5E30-4AEF-AC6E-EB42F466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DEMO SCRIPT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D5B69F-908A-4C21-8CE1-94799950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063BF3-EFD2-41B8-90D9-A547F811E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9550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Ask: “Where is my order?”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30E32F-BA50-4A84-8E5D-4A44C08D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Agent asks for the missing order number.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8A2279-8DCD-4A70-806B-2C97E6F91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E1B189-D01B-44B2-9BAD-E1E1A9FE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3367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Reply: “BK-1042”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43C6D8-F6CF-4471-9CE6-9A9D87FD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3367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Tool returns status, ETA and tracking.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B1D80-5268-43EB-8EBB-C0286884E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5FC69-B85E-4BCA-9BD3-F12BC9F56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718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Ask: “I want to return a book”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30E5D-11BD-4F7A-A3AF-C9E77615D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371850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Agent asks for the order and reason.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60B3A-ACFB-4F59-9FA2-512E055C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10025"/>
            <a:ext cx="3429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EEDE9C-9410-4292-93E3-099CCCE9F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0100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Select a language or say “in English”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005A15-3CB2-402C-9BA4-59593DDAA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010025"/>
            <a:ext cx="4095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UI, title and bot language switch together.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AC03D7-91E7-4981-92D6-8366C914E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14500"/>
            <a:ext cx="2667000" cy="257175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245C45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25B8D3-9D95-4C74-8E38-738D3BD83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000250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NEXT IN PRODUCTION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8FFA2E-85C8-4099-AECC-651A92820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0030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Authentication</a:t>
            </a:r>
          </a:p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Payment provider</a:t>
            </a:r>
          </a:p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Idempotency</a:t>
            </a:r>
          </a:p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Observability</a:t>
            </a:r>
          </a:p>
          <a:p xmlns:a="http://schemas.openxmlformats.org/drawingml/2006/main">
            <a:pPr algn="l">
              <a:def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 i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Human handoff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87055E-8442-4D5A-8A15-DA6659001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 i="0">
                <a:solidFill>
                  <a:srgbClr val="193229"/>
                </a:solidFill>
                <a:latin typeface="Helvetica Neue"/>
                <a:ea typeface="Helvetica Neue"/>
                <a:cs typeface="Helvetica Neue"/>
              </a:rPr>
              <a:t>Current checkout records payment_pending and does not charge a card.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1DC675-0B42-4E62-8F73-BB8BABC59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14300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F0E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A31833-B023-4768-B573-04D8827FA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Repo-ready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A1FE8A-3B7B-473B-BE81-1495B0078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1975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F0E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A33D69-AB60-4FDA-A1E2-6258294C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619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Test scenarios included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3A5F1A-2278-4233-B501-D809167A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19750"/>
            <a:ext cx="1619250" cy="28575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4F0E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3E7876-99EC-4073-A274-A11763E4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19750"/>
            <a:ext cx="161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Flow diagram included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7FA2FF-F9FD-4660-BBA5-133E3910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96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66746D"/>
                </a:solidFill>
                <a:latin typeface="Helvetica Neue"/>
                <a:ea typeface="Helvetica Neue"/>
                <a:cs typeface="Helvetica Neue"/>
              </a:rPr>
              <a:t>BOOKLY  /  DECAGON SE TAKE-HOME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830985-427A-4536-9FF9-0BF176ABC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960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defRPr>
            </a:pPr>
            <a:r>
              <a:rPr sz="750" b="1" i="0">
                <a:solidFill>
                  <a:srgbClr val="245C45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3044897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2026-09-20T14:50:56.8450000Z</dcterms:created>
  <dcterms:modified xsi:type="dcterms:W3CDTF">2026-09-20T14:50:56.8450000Z</dcterms:modified>
</coreProperties>
</file>