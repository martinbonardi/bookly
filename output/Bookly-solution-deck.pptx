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adf7450e3a43ef" /><Relationship Type="http://schemas.openxmlformats.org/officeDocument/2006/relationships/extended-properties" Target="/docProps/app.xml" Id="Rb30600ed97ad4934" /><Relationship Type="http://schemas.openxmlformats.org/officeDocument/2006/relationships/officeDocument" Target="/ppt/presentation.xml" Id="Rde05d90145a348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2ea992141e43c0"/>
  </p:sldMasterIdLst>
  <p:notesMasterIdLst>
    <p:notesMasterId xmlns:r="http://schemas.openxmlformats.org/officeDocument/2006/relationships" r:id="R951bc7a4f25b4848"/>
  </p:notesMasterIdLst>
  <p:sldIdLst>
    <p:sldId xmlns:r="http://schemas.openxmlformats.org/officeDocument/2006/relationships" id="256" r:id="R5ffb6f56c31c4dbf"/>
    <p:sldId xmlns:r="http://schemas.openxmlformats.org/officeDocument/2006/relationships" id="257" r:id="R14ef569938a345ac"/>
    <p:sldId xmlns:r="http://schemas.openxmlformats.org/officeDocument/2006/relationships" id="258" r:id="R71578245448b44d4"/>
    <p:sldId xmlns:r="http://schemas.openxmlformats.org/officeDocument/2006/relationships" id="259" r:id="R25229c67df984280"/>
    <p:sldId xmlns:r="http://schemas.openxmlformats.org/officeDocument/2006/relationships" id="260" r:id="R1508fd75dd534f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7a6c81544e4cbb" /><Relationship Type="http://schemas.openxmlformats.org/officeDocument/2006/relationships/slideMaster" Target="/ppt/slideMasters/slideMaster1.xml" Id="R232ea992141e43c0" /><Relationship Type="http://schemas.openxmlformats.org/officeDocument/2006/relationships/notesMaster" Target="/ppt/notesMasters/notesMaster1.xml" Id="R951bc7a4f25b4848" /><Relationship Type="http://schemas.openxmlformats.org/officeDocument/2006/relationships/presProps" Target="/ppt/presProps.xml" Id="R3c9fa26591dd469e" /><Relationship Type="http://schemas.openxmlformats.org/officeDocument/2006/relationships/tableStyles" Target="/ppt/tableStyles.xml" Id="R0aa54af024df4190" /><Relationship Type="http://schemas.openxmlformats.org/officeDocument/2006/relationships/slide" Target="/ppt/slides/slide1.xml" Id="R5ffb6f56c31c4dbf" /><Relationship Type="http://schemas.openxmlformats.org/officeDocument/2006/relationships/slide" Target="/ppt/slides/slide2.xml" Id="R14ef569938a345ac" /><Relationship Type="http://schemas.openxmlformats.org/officeDocument/2006/relationships/slide" Target="/ppt/slides/slide3.xml" Id="R71578245448b44d4" /><Relationship Type="http://schemas.openxmlformats.org/officeDocument/2006/relationships/slide" Target="/ppt/slides/slide4.xml" Id="R25229c67df984280" /><Relationship Type="http://schemas.openxmlformats.org/officeDocument/2006/relationships/slide" Target="/ppt/slides/slide5.xml" Id="R1508fd75dd534f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bb2f534beb42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531d1f1837416a" /><Relationship Type="http://schemas.openxmlformats.org/officeDocument/2006/relationships/notesMaster" Target="/ppt/notesMasters/notesMaster1.xml" Id="Rf0ff5e44ff3144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d6072723b44f0a" /><Relationship Type="http://schemas.openxmlformats.org/officeDocument/2006/relationships/notesMaster" Target="/ppt/notesMasters/notesMaster1.xml" Id="Rd24589e4f45d42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97bf0a859941a8" /><Relationship Type="http://schemas.openxmlformats.org/officeDocument/2006/relationships/notesMaster" Target="/ppt/notesMasters/notesMaster1.xml" Id="Rd4fe53ffac5844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ccf4811aab4c7d" /><Relationship Type="http://schemas.openxmlformats.org/officeDocument/2006/relationships/notesMaster" Target="/ppt/notesMasters/notesMaster1.xml" Id="Rfed629ac3f854e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ee43cf0bcf4df8" /><Relationship Type="http://schemas.openxmlformats.org/officeDocument/2006/relationships/notesMaster" Target="/ppt/notesMasters/notesMaster1.xml" Id="R52f59cad98bf49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Bookly project repository and SE Take-Home requirements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 reflects the implemented Bookly web application, including the full agent page and the separate landing widget.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is derived from server.mjs: classify, session memory, tool calls, deterministic reply, optional OpenAI Responses API, and Supabase persistence.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Trade-offs are based on the final implementation and the assignment prompt, which asks the candidate to defend architecture and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Production gaps are explicitly documented in README.md and are intentionally outside the take-home prototype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1bb9ff56a43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ace69fed384827" /><Relationship Type="http://schemas.openxmlformats.org/officeDocument/2006/relationships/slideLayout" Target="/ppt/slideLayouts/slideLayout1.xml" Id="Rba1ce6991a3147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1ce6991a3147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7835877f44f9f" /><Relationship Type="http://schemas.openxmlformats.org/officeDocument/2006/relationships/notesSlide" Target="/ppt/notesSlides/notesSlide1.xml" Id="Rd9d6d763e43d48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56100f89a49ef" /><Relationship Type="http://schemas.openxmlformats.org/officeDocument/2006/relationships/notesSlide" Target="/ppt/notesSlides/notesSlide2.xml" Id="Rc33bcc1acc904a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7bac01db54bbb" /><Relationship Type="http://schemas.openxmlformats.org/officeDocument/2006/relationships/notesSlide" Target="/ppt/notesSlides/notesSlide3.xml" Id="Rfd4ee4a548f245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9f674ef4e4253" /><Relationship Type="http://schemas.openxmlformats.org/officeDocument/2006/relationships/notesSlide" Target="/ppt/notesSlides/notesSlide4.xml" Id="Rb7f6183c1a3d42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4b2f8fa8d4f2b" /><Relationship Type="http://schemas.openxmlformats.org/officeDocument/2006/relationships/notesSlide" Target="/ppt/notesSlides/notesSlide5.xml" Id="R99929e708c7e4a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D71EF-D966-4478-9BBE-3697206F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83092-C25F-4C7D-8AA2-13A2F642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4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33CF5-3D1D-418F-9E7C-325398CA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SOLUTIONS ENGINEERING TAKE-HOME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532A4-54BB-4583-A009-C36C7FDD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04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Bookly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BFD0C-AFE4-40E3-9391-922F09CE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0" i="1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0" i="1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Support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5B557-7BB8-4E5E-9598-E01D4F79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A grounded, multilingual customer-support agent for an online bookstore.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953F4-EB6B-4E32-BD0E-79862DB6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28700"/>
            <a:ext cx="3143250" cy="4095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245C4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271E5-0E2C-4972-A3DC-6DD0D2DC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2381250" cy="3048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8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59E08-861A-41CF-9224-B81A78E9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9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69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DB92D-8705-4EC3-BEC3-8533D5A6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BOOKLY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55C64-1B7B-430E-8193-E00D81DB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05200"/>
            <a:ext cx="22288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Ask what is missing.</a:t>
            </a:r>
          </a:p>
          <a:p xmlns:a="http://schemas.openxmlformats.org/drawingml/2006/main">
            <a:pPr algn="ctr">
              <a:defRPr sz="1200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Check the source of truth.</a:t>
            </a:r>
          </a:p>
          <a:p xmlns:a="http://schemas.openxmlformats.org/drawingml/2006/main">
            <a:pPr algn="ctr">
              <a:defRPr sz="1200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Explain the next step.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26423-65F5-485F-885B-AF500EFD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Prototype complete  ·  web demo  ·  Supabase  ·  OpenAI Responses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6F8B4-6651-4163-ADF6-2A546020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BOOKLY  /  SOLUTIONS ENGINEERING TAKE-HOME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57A80-9981-4894-A714-226A56C9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524759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A64757-5376-4081-BC75-4DE957EE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Thesis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C47E4-347F-44CC-A089-58D489BC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Bookly reduces ambiguity before it takes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5D722-9201-4A46-BEA6-1150CBBC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245C4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5C492-EE12-4514-951E-882D3839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THE 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20FFF-24DF-4937-8D77-6F042D91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good CX agent turns a vague request into a verified resolution.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72B6F-D10F-40E9-B3A4-52E45A80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CEB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CEBE0"/>
                </a:solidFill>
                <a:latin typeface="Helvetica Neue"/>
                <a:ea typeface="Helvetica Neue"/>
                <a:cs typeface="Helvetica Neue"/>
              </a:rPr>
              <a:t>Ask for what is missing, query the source of truth, and explain the next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6B453-6BC0-4700-9AAC-C1E29CC6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WHAT THE PROTOTYPE HANDLES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4A029-A8A0-4A8B-B032-1B3DDBE1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762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8E2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3CFED-2C7B-4A12-B372-5CECFA3F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812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Orders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7213D-F9F8-47E2-A3A3-1C24D08E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812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Status, tracking and ETA with order-number clarification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EBE681-0BCB-423A-ADE3-EBC03C52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4762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8E2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30032-19D8-4290-BEAA-0766863D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Returns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C0A72-AB56-4115-9373-5620C136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956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Eligibility, reason collection and return-case creation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B8749-8D54-4064-BD5D-8A1FA544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4762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8E2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BDCCD-E7D4-44BD-8056-5CE3972C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99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Books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4CCCB-F361-4975-A670-3EBE9419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099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Catalog search, categories, promotions and purchase handoff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A3C6AB-50AE-4D5F-A1DD-DB890F97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762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8E2D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8A19D7-DF44-42DD-AF7B-2FECD6E6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Languages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1BE379-5074-4E39-A4F0-ECFB41F5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243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Spanish, Portuguese and English with explicit switching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79F04B-039B-4405-A1D9-6439FD62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BOOKLY  /  SOLUTIONS ENGINEERING TAKE-HOME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7BBA1-F869-4ED6-BE31-70FCD96D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055586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151BB9-CA82-4BB6-9815-F99FC76F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Agent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2EA93-B4BB-4DDE-9C69-DE19D72E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A small explicit loop keeps decisions visible and testable.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56DFE-2714-4C6D-A7F7-10B85A96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85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2E0D3-6366-4E78-80EC-F8C35CA9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83021-E7A7-420A-A54E-8A1FC90C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Customer message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56A2A-342F-4F97-8D17-4C14E000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Text input</a:t>
            </a:r>
          </a:p>
          <a:p xmlns:a="http://schemas.openxmlformats.org/drawingml/2006/main">
            <a:pPr algn="l">
              <a:def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from web chat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2D2AF-1574-49F0-994C-DB4783AB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4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5A891E-C837-49FB-9DD7-2E6DA21A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00350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A95FD-45E0-49F4-BC45-9D6A3B67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81250"/>
            <a:ext cx="1885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FB1A1-D5EC-42DE-9127-AD00592F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7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3D442-1E45-4F3F-B493-40577E77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051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Orchestrator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86D50-69E0-4A70-9ED7-3E688D8D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33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Intent + session</a:t>
            </a:r>
          </a:p>
          <a:p xmlns:a="http://schemas.openxmlformats.org/drawingml/2006/main">
            <a:pPr algn="l">
              <a:def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state + language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F4E26A-9D87-4FC4-9812-BDA31263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480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4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71B035-380A-4235-9A47-C9954BBC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00350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E91AE-E2BB-49F7-A54F-D35D307D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81250"/>
            <a:ext cx="1885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45C45"/>
          </a:solidFill>
          <a:ln xmlns:a="http://schemas.openxmlformats.org/drawingml/2006/main" w="9525">
            <a:solidFill>
              <a:srgbClr val="D8E2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6A953-258C-4139-B622-35588A09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7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9B4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E9B45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286E13-7CCE-4CB5-9738-F2201C32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051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FD4642-F4EB-4FBE-92D7-B1B9B16B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33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CEB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DCEBE0"/>
                </a:solidFill>
                <a:latin typeface="Helvetica Neue"/>
                <a:ea typeface="Helvetica Neue"/>
                <a:cs typeface="Helvetica Neue"/>
              </a:rPr>
              <a:t>Supabase books</a:t>
            </a:r>
          </a:p>
          <a:p xmlns:a="http://schemas.openxmlformats.org/drawingml/2006/main">
            <a:pPr algn="l">
              <a:defRPr sz="975" b="0" i="0">
                <a:solidFill>
                  <a:srgbClr val="DCEB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DCEBE0"/>
                </a:solidFill>
                <a:latin typeface="Helvetica Neue"/>
                <a:ea typeface="Helvetica Neue"/>
                <a:cs typeface="Helvetica Neue"/>
              </a:rPr>
              <a:t>orders and returns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D94F30-E46A-47A2-ABD8-17074F1F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4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5D9AF-D383-4817-A7CA-2895810C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0350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4F45AB-E2EE-4531-84A8-1B6D127B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81250"/>
            <a:ext cx="1885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83B94D-8A2A-41A5-B793-F7E29A19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7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2AA272-9D62-4786-8A32-6E3A50E4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051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Grounded reply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A38A41-CB74-49E7-9A77-38C0A815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33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LLM wording</a:t>
            </a:r>
          </a:p>
          <a:p xmlns:a="http://schemas.openxmlformats.org/drawingml/2006/main">
            <a:pPr algn="l">
              <a:def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with guardrails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EB3EED-124C-46B5-9BBE-B25E0355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480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4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C72A0E-6B57-4C95-AC9E-433CAA03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0350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B1E698-6AED-4FAB-AFB9-81A13A29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1885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FA8808-7034-4DB6-9A38-95409400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7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0FC264-9A78-467E-A032-A2B75D65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051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Trace + history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A3A291-B332-4374-8DFA-BCCFB051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33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Decision trace</a:t>
            </a:r>
          </a:p>
          <a:p xmlns:a="http://schemas.openxmlformats.org/drawingml/2006/main">
            <a:pPr algn="l">
              <a:def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and conversation log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F60AB4-C778-4712-8A19-138AFA5A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GUARDRAIL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2B5CC0-7F46-4ADB-900D-18D63096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Business logic remains the source of truth. The LLM drafts the final wording only from verified context.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DB1F49-41F6-40C8-A62A-9948EB68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F0E6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C39A76-9806-404F-ABD2-8B1E564D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No invented order facts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F5DAED-F3E2-4E99-B59C-7B312A31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2450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F0E6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348D4C-7027-42A6-BA78-F61089B2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24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Clarify before acting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A0CD9D-4184-4D67-97CE-FBD3CC10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24500"/>
            <a:ext cx="13811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F0E6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DE5473-DD6F-485C-A6C4-C4276A2C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245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Persist each turn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E28D15-0148-46BE-8157-D9981A83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BOOKLY  /  SOLUTIONS ENGINEERING TAKE-HOME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3253AB-F7AE-47D9-BB53-890C56D9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63279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A1F009-27B4-4918-9B69-E3889936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Key technical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23967-C0D5-4C9E-91A0-26388D90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The prototype favors trust, inspectability and a clear demo path.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6F0B9-99D6-4555-9603-BCE258CF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8DC5A-D9D3-4443-8A89-98C90C04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668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Tool-grounded 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C24B3-ABC0-4DBF-8547-369EE05B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66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Order and catalog facts come from bounded tools.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58857-B992-42CB-B7DF-5ADA9A6A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Trade-off: less free-form exploration.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57A47-528A-4E8F-91A9-DF9BBCE8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6668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Worth it: the agent cannot invent a status, price or return result.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46353-CE6B-4D08-8C22-888D8A39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EE2DC-65C9-40BA-B262-F184E614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11767-FBAC-456A-A3E4-0B097D63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955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Explicit orchestration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AE363-60E7-46B9-ACFE-456E8BA0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955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Intent, memory and awaiting state stay visible in code.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C367B-4999-4573-AFB8-767796F2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955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Trade-off: more routing logic to maintain.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DA58D-80FF-4E56-A936-74E3CDD9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955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Worth it: multi-turn behavior is easy to debug and test.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E2A5AC-89BB-46A7-9B0C-5E0D2CBC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72F08D-3ADC-4059-8395-B223E803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38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B77F4F-7A4A-4C76-B8D4-967B24C5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242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Optional LLM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AACABA-32D1-4F86-82E9-1190C8C1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242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OpenAI rewrites verified context in the active language.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27CC1B-7D89-48A9-99FD-6B4C4177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242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Trade-off: external latency and model cost.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2566F2-1E43-4554-8440-BCA5BC2B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242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Worth it: natural responses without delegating business rules.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51FE17-A19C-4673-9FA9-6122650A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7402DA-8BDB-4DAF-ACA4-D8823D4D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709112-DB7E-44D0-BB41-A40E7E7E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529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Language as session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9E85E3-6335-418A-BF84-4C14A52B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529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UI and bot follow Spanish, Portuguese or English.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AE45A7-C4BD-439E-918D-E2973E7B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529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Trade-off: more copy and test coverage.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F2143C-A036-42DD-B676-84DBD751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529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Worth it: the experience stays coherent after a language switch.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416B29-687E-49CA-8BC6-81BBC038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BOOKLY  /  SOLUTIONS ENGINEERING TAKE-HOME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C56AFC-F6D3-42DA-8A66-CF8C23AA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758163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8A0ADE-55A3-4CCF-BCAA-33E5CC3F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Demo and production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6BF72-AC2C-4387-BD3C-1EAD90FA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The submission is complete for the take-home prototype; production work is clear.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94CC0-B414-4CCE-B212-4CD3983A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DEMO SCRIPT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C8EEB-EFE4-4ED2-B915-1EE10B7C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E67D1-4493-42CF-8F61-66A597DB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Ask: “Where is my order?”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498CB-A016-45C0-AF6A-BC2F4045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Agent asks for the missing order number.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EC270-94E5-466C-975E-0CC58910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C2D0E-BE62-4D1D-BA89-F246C52D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336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Reply: “BK-1042”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C1455-51D4-4CE8-BA7B-D15A09EA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3367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Tool returns status, ETA and tracking.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6CEEA-4593-4FA9-A866-43CF67C0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51E53-0A33-40B9-A470-2301DDC5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718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Ask: “I want to return a book”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37C35-E46F-4D69-A0C5-D2F60E5D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7185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Agent asks for the order and reason.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A9C93-87C2-475B-BB3C-36A24D9F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CCCD9-89C1-4E55-A3F8-CA05B647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00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Select a language or say “in English”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8D3330-856D-4CAD-9795-29AE57FB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100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UI, title and bot language switch together.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B80A14-DA61-4A15-926F-80D3C326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667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45C4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9625FC-A224-49BA-BF7D-3C791EBA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NEXT IN PRODUCTION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7EEE92-11E2-43C9-BA31-82988AE8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0030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Authentication</a:t>
            </a:r>
          </a:p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Payment provider</a:t>
            </a:r>
          </a:p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Idempotency</a:t>
            </a:r>
          </a:p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Observability</a:t>
            </a:r>
          </a:p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Human handoff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46365F-8CD6-4712-85D1-4825B9AD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Current checkout records payment_pending and does not charge a card.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AD7274-B169-47A5-9FDA-3D91615D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143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F0E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C00194-4078-4EDE-8644-6C2252F7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Repo-ready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730444-1436-4102-972A-3C9142F0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1975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F0E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2083C3-DAEF-48CF-AC6A-624CA5D1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19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Test scenarios included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62E801-B907-481F-939C-321C26E9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1975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F0E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3F1825-18E8-4439-937F-1E488411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19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Flow diagram included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09FD63-E533-4788-BC03-988F027D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BOOKLY  /  SOLUTIONS ENGINEERING TAKE-HOME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0D1A6E-9CF0-4500-A2A6-2AAD5795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43408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2026-09-21T13:28:15.3080000Z</dcterms:created>
  <dcterms:modified xsi:type="dcterms:W3CDTF">2026-09-21T13:28:15.3080000Z</dcterms:modified>
</coreProperties>
</file>